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3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3120688" cy="7380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9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lali\Downloads\Kickstarter_Crowdfunding_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lali\Downloads\Kickstarter_Crowdfunding_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lali\Downloads\Kickstarter_Crowdfunding_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[Kickstarter_Crowdfunding_Excel.xlsx]Overview KPI!PivotTable7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Total no. of Projects by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0.1134861845972957"/>
              <c:y val="-6.0309745982374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0.12841857730746623"/>
              <c:y val="-8.22554864351131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2.3891828336272781E-2"/>
              <c:y val="-9.322835666148268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0.12841857730746623"/>
              <c:y val="-8.22554864351131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0.1134861845972957"/>
              <c:y val="-6.0309745982374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2.3891828336272781E-2"/>
              <c:y val="-9.322835666148268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97000"/>
                  <a:satMod val="100000"/>
                  <a:lumMod val="102000"/>
                </a:schemeClr>
              </a:gs>
              <a:gs pos="50000">
                <a:schemeClr val="accent1">
                  <a:shade val="100000"/>
                  <a:satMod val="103000"/>
                  <a:lumMod val="100000"/>
                </a:schemeClr>
              </a:gs>
              <a:gs pos="100000">
                <a:schemeClr val="accent1">
                  <a:shade val="93000"/>
                  <a:satMod val="110000"/>
                  <a:lumMod val="99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tint val="97000"/>
                  <a:satMod val="100000"/>
                  <a:lumMod val="102000"/>
                </a:schemeClr>
              </a:gs>
              <a:gs pos="50000">
                <a:schemeClr val="accent1">
                  <a:shade val="100000"/>
                  <a:satMod val="103000"/>
                  <a:lumMod val="100000"/>
                </a:schemeClr>
              </a:gs>
              <a:gs pos="100000">
                <a:schemeClr val="accent1">
                  <a:shade val="93000"/>
                  <a:satMod val="110000"/>
                  <a:lumMod val="99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0.12841857730746623"/>
              <c:y val="-8.22554864351131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tint val="97000"/>
                  <a:satMod val="100000"/>
                  <a:lumMod val="102000"/>
                </a:schemeClr>
              </a:gs>
              <a:gs pos="50000">
                <a:schemeClr val="accent1">
                  <a:shade val="100000"/>
                  <a:satMod val="103000"/>
                  <a:lumMod val="100000"/>
                </a:schemeClr>
              </a:gs>
              <a:gs pos="100000">
                <a:schemeClr val="accent1">
                  <a:shade val="93000"/>
                  <a:satMod val="110000"/>
                  <a:lumMod val="99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0.1134861845972957"/>
              <c:y val="-6.0309745982374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tint val="97000"/>
                  <a:satMod val="100000"/>
                  <a:lumMod val="102000"/>
                </a:schemeClr>
              </a:gs>
              <a:gs pos="50000">
                <a:schemeClr val="accent1">
                  <a:shade val="100000"/>
                  <a:satMod val="103000"/>
                  <a:lumMod val="100000"/>
                </a:schemeClr>
              </a:gs>
              <a:gs pos="100000">
                <a:schemeClr val="accent1">
                  <a:shade val="93000"/>
                  <a:satMod val="110000"/>
                  <a:lumMod val="99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dkEdge">
              <a:bevelT w="0" h="0"/>
            </a:sp3d>
          </c:spPr>
        </c:marker>
        <c:dLbl>
          <c:idx val="0"/>
          <c:layout>
            <c:manualLayout>
              <c:x val="-2.3891828336272781E-2"/>
              <c:y val="-9.322835666148268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'Overview KPI'!$W$27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l"/>
              </a:scene3d>
              <a:sp3d prstMaterial="dkEdge">
                <a:bevelT w="0" h="0"/>
              </a:sp3d>
            </c:spPr>
          </c:marker>
          <c:dPt>
            <c:idx val="3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1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1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solidFill>
                    <a:schemeClr val="accent1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rightRoom" dir="tl"/>
                </a:scene3d>
                <a:sp3d prstMaterial="dkEdge">
                  <a:bevelT w="0" h="0"/>
                </a:sp3d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CDD-407C-AB7D-A3FEF0D6B0EB}"/>
              </c:ext>
            </c:extLst>
          </c:dPt>
          <c:dPt>
            <c:idx val="5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1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1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solidFill>
                    <a:schemeClr val="accent1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rightRoom" dir="tl"/>
                </a:scene3d>
                <a:sp3d prstMaterial="dkEdge">
                  <a:bevelT w="0" h="0"/>
                </a:sp3d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CDD-407C-AB7D-A3FEF0D6B0EB}"/>
              </c:ext>
            </c:extLst>
          </c:dPt>
          <c:dPt>
            <c:idx val="8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1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1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solidFill>
                    <a:schemeClr val="accent1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rightRoom" dir="tl"/>
                </a:scene3d>
                <a:sp3d prstMaterial="dkEdge">
                  <a:bevelT w="0" h="0"/>
                </a:sp3d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CDD-407C-AB7D-A3FEF0D6B0EB}"/>
              </c:ext>
            </c:extLst>
          </c:dPt>
          <c:dLbls>
            <c:dLbl>
              <c:idx val="3"/>
              <c:layout>
                <c:manualLayout>
                  <c:x val="-0.12841857730746623"/>
                  <c:y val="-8.22554864351131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CDD-407C-AB7D-A3FEF0D6B0EB}"/>
                </c:ext>
              </c:extLst>
            </c:dLbl>
            <c:dLbl>
              <c:idx val="5"/>
              <c:layout>
                <c:manualLayout>
                  <c:x val="-0.1134861845972957"/>
                  <c:y val="-6.0309745982374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DD-407C-AB7D-A3FEF0D6B0EB}"/>
                </c:ext>
              </c:extLst>
            </c:dLbl>
            <c:dLbl>
              <c:idx val="8"/>
              <c:layout>
                <c:manualLayout>
                  <c:x val="-2.3891828336272781E-2"/>
                  <c:y val="-9.32283566614826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CDD-407C-AB7D-A3FEF0D6B0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'Overview KPI'!$V$28:$V$39</c:f>
              <c:strCache>
                <c:ptCount val="11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</c:strCache>
            </c:strRef>
          </c:cat>
          <c:val>
            <c:numRef>
              <c:f>'Overview KPI'!$W$28:$W$39</c:f>
              <c:numCache>
                <c:formatCode>General</c:formatCode>
                <c:ptCount val="11"/>
                <c:pt idx="0">
                  <c:v>1310</c:v>
                </c:pt>
                <c:pt idx="1">
                  <c:v>9835</c:v>
                </c:pt>
                <c:pt idx="2">
                  <c:v>24359</c:v>
                </c:pt>
                <c:pt idx="3">
                  <c:v>39216</c:v>
                </c:pt>
                <c:pt idx="4">
                  <c:v>41556</c:v>
                </c:pt>
                <c:pt idx="5">
                  <c:v>59155</c:v>
                </c:pt>
                <c:pt idx="6">
                  <c:v>58104</c:v>
                </c:pt>
                <c:pt idx="7">
                  <c:v>46158</c:v>
                </c:pt>
                <c:pt idx="8">
                  <c:v>47270</c:v>
                </c:pt>
                <c:pt idx="9">
                  <c:v>37410</c:v>
                </c:pt>
                <c:pt idx="10">
                  <c:v>1519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CDD-407C-AB7D-A3FEF0D6B0E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13135168"/>
        <c:axId val="813133728"/>
      </c:lineChart>
      <c:catAx>
        <c:axId val="813135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13133728"/>
        <c:crosses val="autoZero"/>
        <c:auto val="1"/>
        <c:lblAlgn val="ctr"/>
        <c:lblOffset val="100"/>
        <c:noMultiLvlLbl val="0"/>
      </c:catAx>
      <c:valAx>
        <c:axId val="813133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13135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[Kickstarter_Crowdfunding_Excel.xlsx]Overview KPI!PivotTable8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IN"/>
              <a:t>Total No. of Projects by Quarter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97000"/>
                  <a:satMod val="100000"/>
                  <a:lumMod val="102000"/>
                </a:schemeClr>
              </a:gs>
              <a:gs pos="50000">
                <a:schemeClr val="accent1">
                  <a:shade val="100000"/>
                  <a:satMod val="103000"/>
                  <a:lumMod val="100000"/>
                </a:schemeClr>
              </a:gs>
              <a:gs pos="100000">
                <a:schemeClr val="accent1">
                  <a:shade val="93000"/>
                  <a:satMod val="110000"/>
                  <a:lumMod val="99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'Overview KPI'!$Z$27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'Overview KPI'!$Y$28:$Y$32</c:f>
              <c:strCache>
                <c:ptCount val="4"/>
                <c:pt idx="0">
                  <c:v>Q 3</c:v>
                </c:pt>
                <c:pt idx="1">
                  <c:v>Q 1</c:v>
                </c:pt>
                <c:pt idx="2">
                  <c:v>Q 2</c:v>
                </c:pt>
                <c:pt idx="3">
                  <c:v>Q 4</c:v>
                </c:pt>
              </c:strCache>
            </c:strRef>
          </c:cat>
          <c:val>
            <c:numRef>
              <c:f>'Overview KPI'!$Z$28:$Z$32</c:f>
              <c:numCache>
                <c:formatCode>General</c:formatCode>
                <c:ptCount val="4"/>
                <c:pt idx="0">
                  <c:v>98056</c:v>
                </c:pt>
                <c:pt idx="1">
                  <c:v>93381</c:v>
                </c:pt>
                <c:pt idx="2">
                  <c:v>92766</c:v>
                </c:pt>
                <c:pt idx="3">
                  <c:v>81689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D0-4EEB-AD7A-5E621640B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66028416"/>
        <c:axId val="1566024096"/>
      </c:lineChart>
      <c:catAx>
        <c:axId val="156602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66024096"/>
        <c:crosses val="autoZero"/>
        <c:auto val="1"/>
        <c:lblAlgn val="ctr"/>
        <c:lblOffset val="100"/>
        <c:noMultiLvlLbl val="0"/>
      </c:catAx>
      <c:valAx>
        <c:axId val="1566024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66028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[Kickstarter_Crowdfunding_Excel.xlsx]Overview KPI!PivotTable9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IN"/>
              <a:t>Total No. of Projects by Month</a:t>
            </a:r>
          </a:p>
        </c:rich>
      </c:tx>
      <c:layout>
        <c:manualLayout>
          <c:xMode val="edge"/>
          <c:yMode val="edge"/>
          <c:x val="0.1065231123706131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97000"/>
                  <a:satMod val="100000"/>
                  <a:lumMod val="102000"/>
                </a:schemeClr>
              </a:gs>
              <a:gs pos="50000">
                <a:schemeClr val="accent1">
                  <a:shade val="100000"/>
                  <a:satMod val="103000"/>
                  <a:lumMod val="100000"/>
                </a:schemeClr>
              </a:gs>
              <a:gs pos="100000">
                <a:schemeClr val="accent1">
                  <a:shade val="93000"/>
                  <a:satMod val="110000"/>
                  <a:lumMod val="99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'Overview KPI'!$AC$27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'Overview KPI'!$AB$28:$AB$40</c:f>
              <c:strCache>
                <c:ptCount val="12"/>
                <c:pt idx="0">
                  <c:v>July</c:v>
                </c:pt>
                <c:pt idx="1">
                  <c:v>March</c:v>
                </c:pt>
                <c:pt idx="2">
                  <c:v>May</c:v>
                </c:pt>
                <c:pt idx="3">
                  <c:v>August</c:v>
                </c:pt>
                <c:pt idx="4">
                  <c:v>October</c:v>
                </c:pt>
                <c:pt idx="5">
                  <c:v>January</c:v>
                </c:pt>
                <c:pt idx="6">
                  <c:v>April</c:v>
                </c:pt>
                <c:pt idx="7">
                  <c:v>September</c:v>
                </c:pt>
                <c:pt idx="8">
                  <c:v>June</c:v>
                </c:pt>
                <c:pt idx="9">
                  <c:v>February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'Overview KPI'!$AC$28:$AC$40</c:f>
              <c:numCache>
                <c:formatCode>General</c:formatCode>
                <c:ptCount val="12"/>
                <c:pt idx="0">
                  <c:v>36101</c:v>
                </c:pt>
                <c:pt idx="1">
                  <c:v>33406</c:v>
                </c:pt>
                <c:pt idx="2">
                  <c:v>32087</c:v>
                </c:pt>
                <c:pt idx="3">
                  <c:v>31686</c:v>
                </c:pt>
                <c:pt idx="4">
                  <c:v>31386</c:v>
                </c:pt>
                <c:pt idx="5">
                  <c:v>31161</c:v>
                </c:pt>
                <c:pt idx="6">
                  <c:v>30939</c:v>
                </c:pt>
                <c:pt idx="7">
                  <c:v>30269</c:v>
                </c:pt>
                <c:pt idx="8">
                  <c:v>29740</c:v>
                </c:pt>
                <c:pt idx="9">
                  <c:v>28814</c:v>
                </c:pt>
                <c:pt idx="10">
                  <c:v>28316</c:v>
                </c:pt>
                <c:pt idx="11">
                  <c:v>21987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B7-465F-9703-E82B05F6EE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663347376"/>
        <c:axId val="1663348816"/>
      </c:lineChart>
      <c:catAx>
        <c:axId val="166334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63348816"/>
        <c:crosses val="autoZero"/>
        <c:auto val="1"/>
        <c:lblAlgn val="ctr"/>
        <c:lblOffset val="100"/>
        <c:noMultiLvlLbl val="0"/>
      </c:catAx>
      <c:valAx>
        <c:axId val="1663348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6334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 rot="-5400000" vert="horz"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722091" y="2568512"/>
            <a:ext cx="9676507" cy="1771269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409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0492" y="4684023"/>
            <a:ext cx="7319704" cy="13343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15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92039" indent="0" algn="ctr">
              <a:buNone/>
              <a:defRPr sz="2152"/>
            </a:lvl2pPr>
            <a:lvl3pPr marL="984077" indent="0" algn="ctr">
              <a:buNone/>
              <a:defRPr sz="1937"/>
            </a:lvl3pPr>
            <a:lvl4pPr marL="1476116" indent="0" algn="ctr">
              <a:buNone/>
              <a:defRPr sz="1722"/>
            </a:lvl4pPr>
            <a:lvl5pPr marL="1968155" indent="0" algn="ctr">
              <a:buNone/>
              <a:defRPr sz="1722"/>
            </a:lvl5pPr>
            <a:lvl6pPr marL="2460193" indent="0" algn="ctr">
              <a:buNone/>
              <a:defRPr sz="1722"/>
            </a:lvl6pPr>
            <a:lvl7pPr marL="2952232" indent="0" algn="ctr">
              <a:buNone/>
              <a:defRPr sz="1722"/>
            </a:lvl7pPr>
            <a:lvl8pPr marL="3444270" indent="0" algn="ctr">
              <a:buNone/>
              <a:defRPr sz="1722"/>
            </a:lvl8pPr>
            <a:lvl9pPr marL="3936309" indent="0" algn="ctr">
              <a:buNone/>
              <a:defRPr sz="17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7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1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722091" y="2568512"/>
            <a:ext cx="9676507" cy="1771269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409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492" y="4683938"/>
            <a:ext cx="7319704" cy="1361427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152">
                <a:solidFill>
                  <a:schemeClr val="tx1"/>
                </a:solidFill>
              </a:defRPr>
            </a:lvl1pPr>
            <a:lvl2pPr marL="492039" indent="0">
              <a:buNone/>
              <a:defRPr sz="2152">
                <a:solidFill>
                  <a:schemeClr val="tx1">
                    <a:tint val="75000"/>
                  </a:schemeClr>
                </a:solidFill>
              </a:defRPr>
            </a:lvl2pPr>
            <a:lvl3pPr marL="984077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3pPr>
            <a:lvl4pPr marL="1476116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1968155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460193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295223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444270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3936309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9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02410" y="2838951"/>
            <a:ext cx="4597160" cy="3338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1117" y="2838951"/>
            <a:ext cx="4595520" cy="3338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4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049" y="2489619"/>
            <a:ext cx="4595521" cy="757708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045" b="0" cap="all" spc="108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92039" indent="0">
              <a:buNone/>
              <a:defRPr sz="2045" b="1"/>
            </a:lvl2pPr>
            <a:lvl3pPr marL="984077" indent="0">
              <a:buNone/>
              <a:defRPr sz="1937" b="1"/>
            </a:lvl3pPr>
            <a:lvl4pPr marL="1476116" indent="0">
              <a:buNone/>
              <a:defRPr sz="1722" b="1"/>
            </a:lvl4pPr>
            <a:lvl5pPr marL="1968155" indent="0">
              <a:buNone/>
              <a:defRPr sz="1722" b="1"/>
            </a:lvl5pPr>
            <a:lvl6pPr marL="2460193" indent="0">
              <a:buNone/>
              <a:defRPr sz="1722" b="1"/>
            </a:lvl6pPr>
            <a:lvl7pPr marL="2952232" indent="0">
              <a:buNone/>
              <a:defRPr sz="1722" b="1"/>
            </a:lvl7pPr>
            <a:lvl8pPr marL="3444270" indent="0">
              <a:buNone/>
              <a:defRPr sz="1722" b="1"/>
            </a:lvl8pPr>
            <a:lvl9pPr marL="3936309" indent="0">
              <a:buNone/>
              <a:defRPr sz="17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04049" y="3382632"/>
            <a:ext cx="4595521" cy="2794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21118" y="3382632"/>
            <a:ext cx="4577480" cy="279454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821118" y="2489619"/>
            <a:ext cx="4595521" cy="757708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045" b="0" cap="all" spc="108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92039" indent="0">
              <a:buNone/>
              <a:defRPr sz="2045" b="1"/>
            </a:lvl2pPr>
            <a:lvl3pPr marL="984077" indent="0">
              <a:buNone/>
              <a:defRPr sz="1937" b="1"/>
            </a:lvl3pPr>
            <a:lvl4pPr marL="1476116" indent="0">
              <a:buNone/>
              <a:defRPr sz="1722" b="1"/>
            </a:lvl4pPr>
            <a:lvl5pPr marL="1968155" indent="0">
              <a:buNone/>
              <a:defRPr sz="1722" b="1"/>
            </a:lvl5pPr>
            <a:lvl6pPr marL="2460193" indent="0">
              <a:buNone/>
              <a:defRPr sz="1722" b="1"/>
            </a:lvl6pPr>
            <a:lvl7pPr marL="2952232" indent="0">
              <a:buNone/>
              <a:defRPr sz="1722" b="1"/>
            </a:lvl7pPr>
            <a:lvl8pPr marL="3444270" indent="0">
              <a:buNone/>
              <a:defRPr sz="1722" b="1"/>
            </a:lvl8pPr>
            <a:lvl9pPr marL="3936309" indent="0">
              <a:buNone/>
              <a:defRPr sz="17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305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7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560344" cy="73802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65966" y="2414713"/>
            <a:ext cx="4828413" cy="1228431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368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9180" y="865954"/>
            <a:ext cx="5182672" cy="5648380"/>
          </a:xfrm>
        </p:spPr>
        <p:txBody>
          <a:bodyPr>
            <a:normAutofit/>
          </a:bodyPr>
          <a:lstStyle>
            <a:lvl1pPr>
              <a:defRPr sz="2045">
                <a:solidFill>
                  <a:schemeClr val="tx1"/>
                </a:solidFill>
              </a:defRPr>
            </a:lvl1pPr>
            <a:lvl2pPr>
              <a:defRPr sz="1722">
                <a:solidFill>
                  <a:schemeClr val="tx1"/>
                </a:solidFill>
              </a:defRPr>
            </a:lvl2pPr>
            <a:lvl3pPr>
              <a:defRPr sz="1722">
                <a:solidFill>
                  <a:schemeClr val="tx1"/>
                </a:solidFill>
              </a:defRPr>
            </a:lvl3pPr>
            <a:lvl4pPr>
              <a:defRPr sz="1722">
                <a:solidFill>
                  <a:schemeClr val="tx1"/>
                </a:solidFill>
              </a:defRPr>
            </a:lvl4pPr>
            <a:lvl5pPr>
              <a:defRPr sz="1722">
                <a:solidFill>
                  <a:schemeClr val="tx1"/>
                </a:solidFill>
              </a:defRPr>
            </a:lvl5pPr>
            <a:lvl6pPr>
              <a:defRPr sz="1722"/>
            </a:lvl6pPr>
            <a:lvl7pPr>
              <a:defRPr sz="1722"/>
            </a:lvl7pPr>
            <a:lvl8pPr>
              <a:defRPr sz="1722"/>
            </a:lvl8pPr>
            <a:lvl9pPr>
              <a:defRPr sz="17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0543" y="3820271"/>
            <a:ext cx="4083814" cy="23611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614">
                <a:solidFill>
                  <a:srgbClr val="FFFFFF"/>
                </a:solidFill>
              </a:defRPr>
            </a:lvl1pPr>
            <a:lvl2pPr marL="492039" indent="0">
              <a:buNone/>
              <a:defRPr sz="1507"/>
            </a:lvl2pPr>
            <a:lvl3pPr marL="984077" indent="0">
              <a:buNone/>
              <a:defRPr sz="1291"/>
            </a:lvl3pPr>
            <a:lvl4pPr marL="1476116" indent="0">
              <a:buNone/>
              <a:defRPr sz="1076"/>
            </a:lvl4pPr>
            <a:lvl5pPr marL="1968155" indent="0">
              <a:buNone/>
              <a:defRPr sz="1076"/>
            </a:lvl5pPr>
            <a:lvl6pPr marL="2460193" indent="0">
              <a:buNone/>
              <a:defRPr sz="1076"/>
            </a:lvl6pPr>
            <a:lvl7pPr marL="2952232" indent="0">
              <a:buNone/>
              <a:defRPr sz="1076"/>
            </a:lvl7pPr>
            <a:lvl8pPr marL="3444270" indent="0">
              <a:buNone/>
              <a:defRPr sz="1076"/>
            </a:lvl8pPr>
            <a:lvl9pPr marL="3936309" indent="0">
              <a:buNone/>
              <a:defRPr sz="10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65966" y="6711142"/>
            <a:ext cx="5515163" cy="344413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97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6560343" cy="73802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70110" y="2414712"/>
            <a:ext cx="4837391" cy="1221051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368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60344" y="0"/>
            <a:ext cx="6566905" cy="7380288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444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92039" indent="0">
              <a:buNone/>
              <a:defRPr sz="3013"/>
            </a:lvl2pPr>
            <a:lvl3pPr marL="984077" indent="0">
              <a:buNone/>
              <a:defRPr sz="2583"/>
            </a:lvl3pPr>
            <a:lvl4pPr marL="1476116" indent="0">
              <a:buNone/>
              <a:defRPr sz="2152"/>
            </a:lvl4pPr>
            <a:lvl5pPr marL="1968155" indent="0">
              <a:buNone/>
              <a:defRPr sz="2152"/>
            </a:lvl5pPr>
            <a:lvl6pPr marL="2460193" indent="0">
              <a:buNone/>
              <a:defRPr sz="2152"/>
            </a:lvl6pPr>
            <a:lvl7pPr marL="2952232" indent="0">
              <a:buNone/>
              <a:defRPr sz="2152"/>
            </a:lvl7pPr>
            <a:lvl8pPr marL="3444270" indent="0">
              <a:buNone/>
              <a:defRPr sz="2152"/>
            </a:lvl8pPr>
            <a:lvl9pPr marL="3936309" indent="0">
              <a:buNone/>
              <a:defRPr sz="215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0543" y="3820272"/>
            <a:ext cx="4083814" cy="2361129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614">
                <a:solidFill>
                  <a:srgbClr val="FFFFFF"/>
                </a:solidFill>
              </a:defRPr>
            </a:lvl1pPr>
            <a:lvl2pPr marL="492039" indent="0">
              <a:buNone/>
              <a:defRPr sz="1507"/>
            </a:lvl2pPr>
            <a:lvl3pPr marL="984077" indent="0">
              <a:buNone/>
              <a:defRPr sz="1291"/>
            </a:lvl3pPr>
            <a:lvl4pPr marL="1476116" indent="0">
              <a:buNone/>
              <a:defRPr sz="1076"/>
            </a:lvl4pPr>
            <a:lvl5pPr marL="1968155" indent="0">
              <a:buNone/>
              <a:defRPr sz="1076"/>
            </a:lvl5pPr>
            <a:lvl6pPr marL="2460193" indent="0">
              <a:buNone/>
              <a:defRPr sz="1076"/>
            </a:lvl6pPr>
            <a:lvl7pPr marL="2952232" indent="0">
              <a:buNone/>
              <a:defRPr sz="1076"/>
            </a:lvl7pPr>
            <a:lvl8pPr marL="3444270" indent="0">
              <a:buNone/>
              <a:defRPr sz="1076"/>
            </a:lvl8pPr>
            <a:lvl9pPr marL="3936309" indent="0">
              <a:buNone/>
              <a:defRPr sz="10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16C4C9A-3960-41CF-A4E9-2A8FB932454B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65966" y="6711142"/>
            <a:ext cx="5515163" cy="344413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8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84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12236" y="1008640"/>
            <a:ext cx="1397525" cy="53630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01086" y="1008640"/>
            <a:ext cx="6670640" cy="53630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4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401086" y="1038160"/>
            <a:ext cx="8318516" cy="127925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1086" y="2838951"/>
            <a:ext cx="8318516" cy="3338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7202" y="6713948"/>
            <a:ext cx="2963504" cy="3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22091" y="6711142"/>
            <a:ext cx="6350694" cy="344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78450" y="6691461"/>
            <a:ext cx="393621" cy="393615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84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41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9" r:id="rId1"/>
    <p:sldLayoutId id="2147484400" r:id="rId2"/>
    <p:sldLayoutId id="2147484401" r:id="rId3"/>
    <p:sldLayoutId id="2147484402" r:id="rId4"/>
    <p:sldLayoutId id="2147484403" r:id="rId5"/>
    <p:sldLayoutId id="2147484404" r:id="rId6"/>
    <p:sldLayoutId id="2147484405" r:id="rId7"/>
    <p:sldLayoutId id="2147484406" r:id="rId8"/>
    <p:sldLayoutId id="2147484407" r:id="rId9"/>
    <p:sldLayoutId id="2147484408" r:id="rId10"/>
    <p:sldLayoutId id="2147484409" r:id="rId11"/>
  </p:sldLayoutIdLst>
  <p:hf sldNum="0" hdr="0" ftr="0" dt="0"/>
  <p:txStyles>
    <p:titleStyle>
      <a:lvl1pPr algn="ctr" defTabSz="984077" rtl="0" eaLnBrk="1" latinLnBrk="0" hangingPunct="1">
        <a:lnSpc>
          <a:spcPct val="90000"/>
        </a:lnSpc>
        <a:spcBef>
          <a:spcPct val="0"/>
        </a:spcBef>
        <a:buNone/>
        <a:defRPr sz="3013" kern="1200" cap="all" spc="215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46019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937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92039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72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8058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72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84077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72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30097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72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412903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722" kern="1200">
          <a:solidFill>
            <a:schemeClr val="tx1"/>
          </a:solidFill>
          <a:latin typeface="+mn-lt"/>
          <a:ea typeface="+mn-ea"/>
          <a:cs typeface="+mn-cs"/>
        </a:defRPr>
      </a:lvl6pPr>
      <a:lvl7pPr marL="1597418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722" kern="1200">
          <a:solidFill>
            <a:schemeClr val="tx1"/>
          </a:solidFill>
          <a:latin typeface="+mn-lt"/>
          <a:ea typeface="+mn-ea"/>
          <a:cs typeface="+mn-cs"/>
        </a:defRPr>
      </a:lvl7pPr>
      <a:lvl8pPr marL="1783640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722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026242" indent="-246019" algn="l" defTabSz="984077" rtl="0" eaLnBrk="1" latinLnBrk="0" hangingPunct="1">
        <a:lnSpc>
          <a:spcPct val="100000"/>
        </a:lnSpc>
        <a:spcBef>
          <a:spcPts val="1076"/>
        </a:spcBef>
        <a:buClr>
          <a:schemeClr val="accent2"/>
        </a:buClr>
        <a:buFont typeface="Arial" panose="020B0604020202020204" pitchFamily="34" charset="0"/>
        <a:buChar char="•"/>
        <a:defRPr sz="1722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1pPr>
      <a:lvl2pPr marL="492039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84077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3pPr>
      <a:lvl4pPr marL="1476116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4pPr>
      <a:lvl5pPr marL="1968155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5pPr>
      <a:lvl6pPr marL="2460193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6pPr>
      <a:lvl7pPr marL="2952232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7pPr>
      <a:lvl8pPr marL="3444270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8pPr>
      <a:lvl9pPr marL="3936309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>
            <a:extLst>
              <a:ext uri="{FF2B5EF4-FFF2-40B4-BE49-F238E27FC236}">
                <a16:creationId xmlns:a16="http://schemas.microsoft.com/office/drawing/2014/main" id="{CA6F5E1F-2236-6800-EE5A-03CEC439D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143" y="5093702"/>
            <a:ext cx="9541287" cy="1161657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A data-driven overview of Kickstarter’s trends, outcomes, and success factors.</a:t>
            </a:r>
            <a:endParaRPr lang="en-IN" sz="2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930D26F-E711-6CBE-6CE5-86094A436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143" y="1307509"/>
            <a:ext cx="9979329" cy="116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453F97-70B9-5354-94C3-A09029F71203}"/>
              </a:ext>
            </a:extLst>
          </p:cNvPr>
          <p:cNvSpPr txBox="1"/>
          <p:nvPr/>
        </p:nvSpPr>
        <p:spPr>
          <a:xfrm>
            <a:off x="1335023" y="3351353"/>
            <a:ext cx="100504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Crowdfunding Analytics: Insights, Outcomes &amp; Opportunities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81474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705393-6AF4-35EE-8600-CD70B23A4308}"/>
              </a:ext>
            </a:extLst>
          </p:cNvPr>
          <p:cNvSpPr txBox="1"/>
          <p:nvPr/>
        </p:nvSpPr>
        <p:spPr>
          <a:xfrm>
            <a:off x="4317105" y="619135"/>
            <a:ext cx="4808211" cy="61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92"/>
              </a:lnSpc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Sora Medium" pitchFamily="34" charset="-122"/>
                <a:cs typeface="Arial" panose="020B0604020202020204" pitchFamily="34" charset="0"/>
              </a:rPr>
              <a:t>Presentation Agenda</a:t>
            </a: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0ED6B-381F-D610-E8E9-855642C1E30C}"/>
              </a:ext>
            </a:extLst>
          </p:cNvPr>
          <p:cNvSpPr txBox="1"/>
          <p:nvPr/>
        </p:nvSpPr>
        <p:spPr>
          <a:xfrm>
            <a:off x="2053158" y="2056992"/>
            <a:ext cx="77817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📊 Data Overview 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🎯 Objectives: KPIs 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⚙️ Process 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🔎 Analysis 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💡 Recommendations and Insights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🚧 Challenges &amp; Learnings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📝 Conclusion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🖼️ Picture Dashboard/Report</a:t>
            </a:r>
          </a:p>
        </p:txBody>
      </p:sp>
    </p:spTree>
    <p:extLst>
      <p:ext uri="{BB962C8B-B14F-4D97-AF65-F5344CB8AC3E}">
        <p14:creationId xmlns:p14="http://schemas.microsoft.com/office/powerpoint/2010/main" val="331220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2551F-F32B-0FDC-2399-76519C958C19}"/>
              </a:ext>
            </a:extLst>
          </p:cNvPr>
          <p:cNvSpPr txBox="1"/>
          <p:nvPr/>
        </p:nvSpPr>
        <p:spPr>
          <a:xfrm>
            <a:off x="4098151" y="330467"/>
            <a:ext cx="5678732" cy="52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83"/>
              </a:lnSpc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Sora Medium" pitchFamily="34" charset="-122"/>
                <a:cs typeface="Arial" panose="020B0604020202020204" pitchFamily="34" charset="0"/>
              </a:rPr>
              <a:t>Crowdfunding : Data Overview</a:t>
            </a: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1BF9E-2FBB-14D7-0078-6356D8539F57}"/>
              </a:ext>
            </a:extLst>
          </p:cNvPr>
          <p:cNvSpPr txBox="1"/>
          <p:nvPr/>
        </p:nvSpPr>
        <p:spPr>
          <a:xfrm>
            <a:off x="610861" y="1149664"/>
            <a:ext cx="9024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overview analyzes the scale, performance, and financial impact of the crowdfunding platform, providing insight  into its growth, competitiveness, and potential value for creators and backers.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1122A0-FC60-23FF-EB81-77EB067C4CA1}"/>
              </a:ext>
            </a:extLst>
          </p:cNvPr>
          <p:cNvSpPr txBox="1"/>
          <p:nvPr/>
        </p:nvSpPr>
        <p:spPr>
          <a:xfrm>
            <a:off x="610861" y="2290936"/>
            <a:ext cx="5760442" cy="410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365.89K</a:t>
            </a:r>
            <a:r>
              <a:rPr lang="en-US" sz="1490" b="1" dirty="0"/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Projects Launched: A highly active platform with massive campaign volume.</a:t>
            </a:r>
          </a:p>
          <a:p>
            <a:pPr>
              <a:buNone/>
            </a:pPr>
            <a:endParaRPr lang="en-US" sz="1490" dirty="0"/>
          </a:p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38.35%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Success Rate: Success is possible but requires smart, competitive execution.</a:t>
            </a:r>
          </a:p>
          <a:p>
            <a:pPr>
              <a:buNone/>
            </a:pPr>
            <a:endParaRPr lang="en-US" sz="1490" dirty="0"/>
          </a:p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39.97M</a:t>
            </a:r>
            <a:r>
              <a:rPr lang="en-US" sz="1490" b="1" dirty="0"/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Backers: A huge global community fueling creator projects.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80.36</a:t>
            </a:r>
            <a:r>
              <a:rPr lang="en-US" sz="1985" b="1" dirty="0"/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Days to Succeed: Most winning campaigns reach goals in about 80 days.</a:t>
            </a:r>
          </a:p>
          <a:p>
            <a:pPr>
              <a:buNone/>
            </a:pPr>
            <a:endParaRPr lang="en-US" sz="1490" dirty="0"/>
          </a:p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$3.46B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Raised: A powerful platform driving major funding opportunities.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558FF64-9BE2-6731-8260-A4D9FA388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632" y="2290936"/>
            <a:ext cx="5788056" cy="345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26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56EFFA-91A4-5342-3325-6B5473A2E22D}"/>
              </a:ext>
            </a:extLst>
          </p:cNvPr>
          <p:cNvSpPr txBox="1"/>
          <p:nvPr/>
        </p:nvSpPr>
        <p:spPr>
          <a:xfrm>
            <a:off x="5066064" y="201501"/>
            <a:ext cx="5760089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83"/>
              </a:lnSpc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: KPIS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0B14D3-810B-88DD-2875-A25102F30E5D}"/>
              </a:ext>
            </a:extLst>
          </p:cNvPr>
          <p:cNvSpPr txBox="1"/>
          <p:nvPr/>
        </p:nvSpPr>
        <p:spPr>
          <a:xfrm>
            <a:off x="661063" y="858743"/>
            <a:ext cx="5044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Outcome Breakdown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6F7DB7-EAE3-0C54-0110-CA8B9F121D09}"/>
              </a:ext>
            </a:extLst>
          </p:cNvPr>
          <p:cNvSpPr txBox="1"/>
          <p:nvPr/>
        </p:nvSpPr>
        <p:spPr>
          <a:xfrm>
            <a:off x="661062" y="1180370"/>
            <a:ext cx="793429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Failed Projects (188K – 54.54%)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Most campaigns do not meet their funding goals, making failure the dominant outcome.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Successful Projects (140K – 40.63%)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significant portion of projects achieve their goals, proving success is attainable with the right strategy.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Canceled Projects (32K – 9.28%)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projects are voluntarily withdrawn by creators, usually due to low traction or internal challenges.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Suspended Projects (3K – 0.86%)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small number are halted by the platform for rule violations or policy issues.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5F6DE9-9801-1FFF-47BE-BCB727AF5A1B}"/>
              </a:ext>
            </a:extLst>
          </p:cNvPr>
          <p:cNvSpPr txBox="1"/>
          <p:nvPr/>
        </p:nvSpPr>
        <p:spPr>
          <a:xfrm>
            <a:off x="661063" y="4299825"/>
            <a:ext cx="5044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Location Breakdown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CAB481-C562-2ACB-31C1-998E4F3BB507}"/>
              </a:ext>
            </a:extLst>
          </p:cNvPr>
          <p:cNvSpPr txBox="1"/>
          <p:nvPr/>
        </p:nvSpPr>
        <p:spPr>
          <a:xfrm>
            <a:off x="661061" y="4638379"/>
            <a:ext cx="79342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United States (288K projects)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U.S. is the dominant contributor, hosting the highest volume of campaigns on the platform.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Great Britain (83K projects)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U.K. shows strong activity but remains far behind the U.S. in campaign volume.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Canada (15K projects)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Canada reflects moderate crowdfunding participation with a smaller project count.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Remaining Countries (&lt;10K projects)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Most other countries contribute minimally, accounting for a small share of overall campaigns.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DF4FF2-F6CC-5A85-A97C-C2EA2A6CA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362" y="1180371"/>
            <a:ext cx="3875584" cy="26345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B75AA38-43C2-B2CE-E905-3DBCFA7F2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362" y="4271466"/>
            <a:ext cx="3875583" cy="27084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6715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C57063-9C4A-A81B-539F-517AC91C48D9}"/>
              </a:ext>
            </a:extLst>
          </p:cNvPr>
          <p:cNvSpPr txBox="1"/>
          <p:nvPr/>
        </p:nvSpPr>
        <p:spPr>
          <a:xfrm>
            <a:off x="4893842" y="328541"/>
            <a:ext cx="6189408" cy="529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83"/>
              </a:lnSpc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: KPIS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A49A7-3D0B-0503-5F8B-AFD1FFECB376}"/>
              </a:ext>
            </a:extLst>
          </p:cNvPr>
          <p:cNvSpPr txBox="1"/>
          <p:nvPr/>
        </p:nvSpPr>
        <p:spPr>
          <a:xfrm>
            <a:off x="673684" y="1018721"/>
            <a:ext cx="6558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ategory Breakdown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5A1B1-F8DF-E62C-CD5D-1562C9240365}"/>
              </a:ext>
            </a:extLst>
          </p:cNvPr>
          <p:cNvSpPr txBox="1"/>
          <p:nvPr/>
        </p:nvSpPr>
        <p:spPr>
          <a:xfrm>
            <a:off x="673684" y="1518794"/>
            <a:ext cx="76350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Top Categories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Product Design, Tabletop Games, Music, and Documentary lead the platform, driven by high creativity and strong community interest.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Mid-Tier Categories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like Video Games, Food, Film, Art, and Apparel show steady participation with moderate project volumes.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Lower-Tier Categories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Tech, Publishing, Business, and other niche areas contribute fewer projects, reflecting limited creator activity.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4C0903-A3AD-13A2-3F51-E65555E720CC}"/>
              </a:ext>
            </a:extLst>
          </p:cNvPr>
          <p:cNvSpPr txBox="1"/>
          <p:nvPr/>
        </p:nvSpPr>
        <p:spPr>
          <a:xfrm>
            <a:off x="706284" y="4450302"/>
            <a:ext cx="76350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Year-Based Outcome</a:t>
            </a:r>
          </a:p>
          <a:p>
            <a:pPr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Highest (2014 – 59K projects)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2014 marks the peak year with the largest surge in project launches.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Mid Range (2012–2017 – 39K to 58K projects)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years show consistent growth and sustained platform engagement.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Lowest (2009 – 1K, 2019 – 4K projects)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Early launch and recent decline reflect low activity and reduced project creation.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2EF9D7-34B2-BA57-EA54-46D085529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467" y="1308268"/>
            <a:ext cx="4219268" cy="2766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580423-B2E5-DE6A-D6BB-ABC817B8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467" y="4216259"/>
            <a:ext cx="4219268" cy="28348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6854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A2628A-4213-08D1-C557-51962742956C}"/>
              </a:ext>
            </a:extLst>
          </p:cNvPr>
          <p:cNvSpPr txBox="1"/>
          <p:nvPr/>
        </p:nvSpPr>
        <p:spPr>
          <a:xfrm>
            <a:off x="5153250" y="594377"/>
            <a:ext cx="6558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F764A-4C75-CEB6-CCC0-17204B042AB2}"/>
              </a:ext>
            </a:extLst>
          </p:cNvPr>
          <p:cNvSpPr txBox="1"/>
          <p:nvPr/>
        </p:nvSpPr>
        <p:spPr>
          <a:xfrm>
            <a:off x="949140" y="1797318"/>
            <a:ext cx="86114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Efficiently cleaned the dataset by removing duplicates and standardizing outcomes using Power Query.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Database Management &amp; SQL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Handled large-scale data in MySQL and wrote advanced queries to extract meaningful performance insights.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Dashboard Design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Created interactive dashboards in Excel, Tableau, and Power BI using the right charts for trends and KPIs.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Project Management Skills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Managed the full analytics lifecycle from raw data to insights, supported by strong documentation and storytelling.</a:t>
            </a:r>
          </a:p>
        </p:txBody>
      </p:sp>
    </p:spTree>
    <p:extLst>
      <p:ext uri="{BB962C8B-B14F-4D97-AF65-F5344CB8AC3E}">
        <p14:creationId xmlns:p14="http://schemas.microsoft.com/office/powerpoint/2010/main" val="107401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A3FF6F-DA07-8BD8-C527-DE01DE39F000}"/>
              </a:ext>
            </a:extLst>
          </p:cNvPr>
          <p:cNvSpPr txBox="1"/>
          <p:nvPr/>
        </p:nvSpPr>
        <p:spPr>
          <a:xfrm>
            <a:off x="2168341" y="657639"/>
            <a:ext cx="65581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17648-057D-4FF2-CB82-D6E98B7655AD}"/>
              </a:ext>
            </a:extLst>
          </p:cNvPr>
          <p:cNvSpPr txBox="1"/>
          <p:nvPr/>
        </p:nvSpPr>
        <p:spPr>
          <a:xfrm>
            <a:off x="6858000" y="320662"/>
            <a:ext cx="52568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Success Rate by Goal Range 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Goals Under $1K: ~60% Success Rate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Goals $1K - $10K: Moderate Success Rate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Goals $10K - $100K: Significant Drop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Goals Over $500K: Success Rate Drops Below 10%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70381FD-EE60-46BD-8C48-22D8F41D2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475601"/>
              </p:ext>
            </p:extLst>
          </p:nvPr>
        </p:nvGraphicFramePr>
        <p:xfrm>
          <a:off x="319875" y="1906595"/>
          <a:ext cx="6162204" cy="2580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0B06BF5-F3D0-4501-9FFC-430FE7094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6655259"/>
              </p:ext>
            </p:extLst>
          </p:nvPr>
        </p:nvGraphicFramePr>
        <p:xfrm>
          <a:off x="6757532" y="1920363"/>
          <a:ext cx="5928524" cy="2517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62BE4074-E8E9-44BE-95AD-1DDAAF93BF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3780085"/>
              </p:ext>
            </p:extLst>
          </p:nvPr>
        </p:nvGraphicFramePr>
        <p:xfrm>
          <a:off x="319875" y="4663440"/>
          <a:ext cx="6162205" cy="2580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976BA44-80B9-4C44-9C5C-DC0724ADA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532" y="4663439"/>
            <a:ext cx="5928524" cy="258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5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E261AB-88BA-A5B4-29AA-BE694787BB32}"/>
              </a:ext>
            </a:extLst>
          </p:cNvPr>
          <p:cNvSpPr txBox="1"/>
          <p:nvPr/>
        </p:nvSpPr>
        <p:spPr>
          <a:xfrm>
            <a:off x="4202962" y="172792"/>
            <a:ext cx="6558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Recommendations and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9F439-8DD4-6CAD-33C0-62953EC64858}"/>
              </a:ext>
            </a:extLst>
          </p:cNvPr>
          <p:cNvSpPr txBox="1"/>
          <p:nvPr/>
        </p:nvSpPr>
        <p:spPr>
          <a:xfrm>
            <a:off x="589279" y="975020"/>
            <a:ext cx="1138936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1. Set Realistic Funding Goals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Campaigns with modest funding targets demonstrate significantly higher success rates, making achievable goals a critical factor for funding.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 Prioritize High-Performing Categories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Focusing on categories with historically strong outcomes increases the probability of a successful campaign.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3. Preparation Outweighs Timing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Strategic planning and audience engagement have a greater impact on success than the specific launch date.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1. Platform Peak in 2014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Project activity reached its highest level in 2014 and has since declined, indicating a more mature and competitive environment.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 U.S. Leads, With Global Growth Potential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United States accounts for the majority of campaigns, highlighting substantial opportunity for expansion in other regions.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3. Majority of Projects Do Not Succeed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With failure rates exceeding 50%, effective planning and targeted execution are essential for favorable outcomes.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4. Success Is Driven by Strategy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Campaign performance is strongly influenced by goal setting, category selection, and audience targeting rather than chance.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0CF51-38AB-01E0-F56A-B52383630E00}"/>
              </a:ext>
            </a:extLst>
          </p:cNvPr>
          <p:cNvSpPr txBox="1"/>
          <p:nvPr/>
        </p:nvSpPr>
        <p:spPr>
          <a:xfrm>
            <a:off x="589279" y="636465"/>
            <a:ext cx="6558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8E992-6CDB-B310-94BC-683EBF616A25}"/>
              </a:ext>
            </a:extLst>
          </p:cNvPr>
          <p:cNvSpPr txBox="1"/>
          <p:nvPr/>
        </p:nvSpPr>
        <p:spPr>
          <a:xfrm>
            <a:off x="589279" y="3529565"/>
            <a:ext cx="225552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055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8F49D4-3A6D-443A-98E9-FCCADD5D4F88}"/>
              </a:ext>
            </a:extLst>
          </p:cNvPr>
          <p:cNvSpPr txBox="1"/>
          <p:nvPr/>
        </p:nvSpPr>
        <p:spPr>
          <a:xfrm>
            <a:off x="4699164" y="473439"/>
            <a:ext cx="6558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Challenges &amp;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ED728-FD87-7A6D-0359-024D788079B9}"/>
              </a:ext>
            </a:extLst>
          </p:cNvPr>
          <p:cNvSpPr txBox="1"/>
          <p:nvPr/>
        </p:nvSpPr>
        <p:spPr>
          <a:xfrm>
            <a:off x="871138" y="1550968"/>
            <a:ext cx="1038614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Large Data Volume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dataset was too big for manual handling in Excel, requiring scalable methods to process 365K+ records across 25 attributes.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 Loading into MySQL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Importing the data caused errors due to inconsistent columns, currency symbols in numeric fields, and mixed date formats, requiring careful correction.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Set Realistic Funding Goals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key insight was that smaller funding targets (under $1K) greatly improve success rates, making achievable goals more effective than ambitious ones.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Different Tool Requirements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Each tool had unique data formatting needs, so the dataset had to be reorganized multiple times to work properly across Excel, Tableau, Power BI, and MySQL.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Time-Intensive Cleaning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Standardizing dates, amounts, and backer data consumed significant time, reinforcing that thorough preprocessing is essential before analysis 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894984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008D81-CE49-D8B0-C37F-C10BCA0EBF14}"/>
              </a:ext>
            </a:extLst>
          </p:cNvPr>
          <p:cNvSpPr txBox="1"/>
          <p:nvPr/>
        </p:nvSpPr>
        <p:spPr>
          <a:xfrm>
            <a:off x="3247922" y="260131"/>
            <a:ext cx="7013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Conclusion: Actionable Strategies for Launch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A79CBB-A201-6CF2-65BC-9DCD6B5D1337}"/>
              </a:ext>
            </a:extLst>
          </p:cNvPr>
          <p:cNvSpPr txBox="1"/>
          <p:nvPr/>
        </p:nvSpPr>
        <p:spPr>
          <a:xfrm>
            <a:off x="838887" y="793280"/>
            <a:ext cx="1173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insights reveal a well-established yet highly competitive crowdfunding landscape, marked by strong participation and major financial movement, even as recent project volumes have declined.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6F16C-D434-7D12-690B-0C16DFF1A107}"/>
              </a:ext>
            </a:extLst>
          </p:cNvPr>
          <p:cNvSpPr txBox="1"/>
          <p:nvPr/>
        </p:nvSpPr>
        <p:spPr>
          <a:xfrm>
            <a:off x="838887" y="1449539"/>
            <a:ext cx="117348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Overall Platform Health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platform shows high activity and strong capital flow, proving its ability to fund large volumes of creative projects.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Community Size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Nearly 40 million backers highlight a broad and engaged global supporter base.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Success Rate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38.35% success rate indicates that a meaningful share of projects can get funded with the right approach.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Project Duration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Successful campaigns typically finish in about 80 days, reflecting efficient funding cycles.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Top Categories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Product Design and Tabletop Games perform best, showing concentrated creator and backer interest.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Goal Strategy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Smaller funding targets under $1K deliver the highest success rates, making modest goals the most effective.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Market Dominance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United States leads with the largest number of campaigns, setting the tone for platform activity.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Great Britain’s Position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Great Britain ranks second, contributing significantly but still far below U.S. volume.</a:t>
            </a:r>
          </a:p>
        </p:txBody>
      </p:sp>
    </p:spTree>
    <p:extLst>
      <p:ext uri="{BB962C8B-B14F-4D97-AF65-F5344CB8AC3E}">
        <p14:creationId xmlns:p14="http://schemas.microsoft.com/office/powerpoint/2010/main" val="302924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B37200-A306-83D5-4423-AAD8CC05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566"/>
            <a:ext cx="13120688" cy="65793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71F33A-ED93-9069-760B-9AF455D085BA}"/>
              </a:ext>
            </a:extLst>
          </p:cNvPr>
          <p:cNvSpPr txBox="1"/>
          <p:nvPr/>
        </p:nvSpPr>
        <p:spPr>
          <a:xfrm>
            <a:off x="6014720" y="15791"/>
            <a:ext cx="3769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230733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A5C7B4-D4BC-C534-E568-BAE7A41AC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13120688" cy="6770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2FE88A-CAB2-E5F8-FAA0-69C2E342A695}"/>
              </a:ext>
            </a:extLst>
          </p:cNvPr>
          <p:cNvSpPr txBox="1"/>
          <p:nvPr/>
        </p:nvSpPr>
        <p:spPr>
          <a:xfrm>
            <a:off x="5527040" y="24825"/>
            <a:ext cx="455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1059553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412129-0FDE-D50E-DC07-58F748B76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0"/>
            <a:ext cx="13120688" cy="6821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D37B59-239A-7ADB-A803-E2577B695EC6}"/>
              </a:ext>
            </a:extLst>
          </p:cNvPr>
          <p:cNvSpPr txBox="1"/>
          <p:nvPr/>
        </p:nvSpPr>
        <p:spPr>
          <a:xfrm>
            <a:off x="5615464" y="0"/>
            <a:ext cx="564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Tableau</a:t>
            </a:r>
          </a:p>
        </p:txBody>
      </p:sp>
    </p:spTree>
    <p:extLst>
      <p:ext uri="{BB962C8B-B14F-4D97-AF65-F5344CB8AC3E}">
        <p14:creationId xmlns:p14="http://schemas.microsoft.com/office/powerpoint/2010/main" val="983564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AB1910-9E02-8CCE-F71A-8B7192603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04" y="1242789"/>
            <a:ext cx="3909399" cy="15012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2659A6-AB75-7D6B-9260-224615228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700" y="1242789"/>
            <a:ext cx="2865368" cy="11430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3FAE6E-0022-DDAC-0AC5-713F798A9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04" y="2958560"/>
            <a:ext cx="4572396" cy="1463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1EDEED-3F9E-D584-72B9-9B0C8044E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896" y="2958560"/>
            <a:ext cx="2720576" cy="9678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350581-9BF0-BBF4-A4C8-C3FBA59FF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" y="4765780"/>
            <a:ext cx="9419136" cy="13717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38BCEF-5823-CE79-CC09-198D6F5F9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7988" y="4918198"/>
            <a:ext cx="2682472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66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71DC55-B65C-E599-E3F5-293A4ABE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2" y="326774"/>
            <a:ext cx="3886537" cy="2514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38C3C9-24DA-B50F-CDAB-176B5828F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557" y="326774"/>
            <a:ext cx="2682472" cy="723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17F01D-26F9-3778-4538-A576BDCBD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41" y="3178383"/>
            <a:ext cx="4519052" cy="1828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B632F8-34A9-D38C-040D-27CB84380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659" y="3093954"/>
            <a:ext cx="2423370" cy="6706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EE349D-AE70-6572-AEDA-FFB0747445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641" y="5482355"/>
            <a:ext cx="3901778" cy="13336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8BED89-D509-1116-255C-687409D6C1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8659" y="5334006"/>
            <a:ext cx="2720576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11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246A08-6D97-193B-5330-6435BB9E7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13" y="592702"/>
            <a:ext cx="4016088" cy="1310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E5EB8F-EF81-24F4-648C-3DAD07A5F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437" y="384215"/>
            <a:ext cx="2705334" cy="2751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01F3D-8CD5-354B-5FD2-0EFE5B438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13" y="4011348"/>
            <a:ext cx="3932261" cy="2446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F1A620-7F71-5200-9564-0901D51D4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678" y="4011348"/>
            <a:ext cx="2690093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31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36125F-2BAF-0609-0800-8A72A6ACE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86" y="337222"/>
            <a:ext cx="4557155" cy="4008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4DF7FC-5DC8-6A84-17A9-2A856D04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13" y="337222"/>
            <a:ext cx="3947502" cy="2804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C7CEB3-5D50-C6FD-C01E-8EE9FF76E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86" y="4877564"/>
            <a:ext cx="6187976" cy="1844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70F4FB-B216-47E2-CCAF-D50CC31C5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271" y="4877564"/>
            <a:ext cx="2530059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76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98460E-10F9-1BB6-94A0-E0EE3D8E2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69" y="252140"/>
            <a:ext cx="4008467" cy="2728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387287-9AB2-74C6-9837-912810373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49" y="252140"/>
            <a:ext cx="4999153" cy="2827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6653E4-29B2-BA5D-EAD8-A80769EAB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69" y="3849632"/>
            <a:ext cx="8954276" cy="3010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A65DCD-A998-D64D-D1AB-46B7A91B2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5633" y="4717218"/>
            <a:ext cx="3635055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13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965143-96F5-78F1-418E-4A3FEF90F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0" y="85498"/>
            <a:ext cx="3977985" cy="276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27BA8-A704-16FC-FA88-10B0DC437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090" y="58826"/>
            <a:ext cx="6058425" cy="2819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EFE405-1630-4376-6609-5A3876131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0" y="3259450"/>
            <a:ext cx="4153260" cy="23624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8C8F09-A260-8030-B4C7-264B1D14C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090" y="3084376"/>
            <a:ext cx="4435224" cy="2834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067FF7-EFCA-7F67-6BD8-02D576B86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10" y="6178363"/>
            <a:ext cx="6553768" cy="11430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07A724-0E5A-E432-DC04-3D485886A0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2074" y="6178363"/>
            <a:ext cx="2103302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41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AD79AC-D0CB-8498-0778-6066F230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38" y="85060"/>
            <a:ext cx="5570703" cy="2682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F07F7E-A080-7914-751B-6D6C6215F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44" y="85060"/>
            <a:ext cx="3162574" cy="2349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13FBB5-9406-22D4-92E5-3125C97DF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38" y="2883842"/>
            <a:ext cx="4968671" cy="4314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7B294D-8D84-57AB-635B-B3B6E9390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2385" y="3085861"/>
            <a:ext cx="6783913" cy="278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66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CB375-3C78-47E5-47ED-02C1991B1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24" y="1885799"/>
            <a:ext cx="6027942" cy="3406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73D195-137E-18FE-7212-987805841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44" y="2394461"/>
            <a:ext cx="6289101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60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E762FB-9768-44B2-D132-29991DA9DDF4}"/>
              </a:ext>
            </a:extLst>
          </p:cNvPr>
          <p:cNvSpPr txBox="1"/>
          <p:nvPr/>
        </p:nvSpPr>
        <p:spPr>
          <a:xfrm>
            <a:off x="3418423" y="3006883"/>
            <a:ext cx="628384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06782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1302</TotalTime>
  <Words>1190</Words>
  <Application>Microsoft Office PowerPoint</Application>
  <PresentationFormat>Custom</PresentationFormat>
  <Paragraphs>127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Lalitha _K</dc:creator>
  <cp:lastModifiedBy>Lalitha _K</cp:lastModifiedBy>
  <cp:revision>4</cp:revision>
  <dcterms:created xsi:type="dcterms:W3CDTF">2025-11-25T06:52:19Z</dcterms:created>
  <dcterms:modified xsi:type="dcterms:W3CDTF">2026-02-07T04:01:30Z</dcterms:modified>
</cp:coreProperties>
</file>